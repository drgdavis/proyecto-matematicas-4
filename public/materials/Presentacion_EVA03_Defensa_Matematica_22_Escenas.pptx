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03e51790f49c8" /><Relationship Type="http://schemas.openxmlformats.org/officeDocument/2006/relationships/extended-properties" Target="/docProps/app.xml" Id="R994ff70b66f34bcf" /><Relationship Type="http://schemas.openxmlformats.org/officeDocument/2006/relationships/officeDocument" Target="/ppt/presentation.xml" Id="R641e841fdbde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1290ea9364ed2"/>
  </p:sldMasterIdLst>
  <p:notesMasterIdLst>
    <p:notesMasterId xmlns:r="http://schemas.openxmlformats.org/officeDocument/2006/relationships" r:id="R4c70767769a74c28"/>
  </p:notesMasterIdLst>
  <p:sldIdLst>
    <p:sldId xmlns:r="http://schemas.openxmlformats.org/officeDocument/2006/relationships" id="256" r:id="Rc28c5c71fabb4b16"/>
    <p:sldId xmlns:r="http://schemas.openxmlformats.org/officeDocument/2006/relationships" id="257" r:id="R452f7f04370442e3"/>
    <p:sldId xmlns:r="http://schemas.openxmlformats.org/officeDocument/2006/relationships" id="258" r:id="Re95f2d44d1b54cc9"/>
    <p:sldId xmlns:r="http://schemas.openxmlformats.org/officeDocument/2006/relationships" id="259" r:id="R8787f3997afc452e"/>
    <p:sldId xmlns:r="http://schemas.openxmlformats.org/officeDocument/2006/relationships" id="260" r:id="Ra1109937df6f4bf7"/>
    <p:sldId xmlns:r="http://schemas.openxmlformats.org/officeDocument/2006/relationships" id="261" r:id="Rf730eb8a4ba04586"/>
    <p:sldId xmlns:r="http://schemas.openxmlformats.org/officeDocument/2006/relationships" id="262" r:id="R84859ffbd3ff425d"/>
    <p:sldId xmlns:r="http://schemas.openxmlformats.org/officeDocument/2006/relationships" id="263" r:id="Re81bcda6f6ed45e4"/>
    <p:sldId xmlns:r="http://schemas.openxmlformats.org/officeDocument/2006/relationships" id="264" r:id="R00ddae9cf75242f0"/>
    <p:sldId xmlns:r="http://schemas.openxmlformats.org/officeDocument/2006/relationships" id="265" r:id="R3240a9bc394242b8"/>
    <p:sldId xmlns:r="http://schemas.openxmlformats.org/officeDocument/2006/relationships" id="266" r:id="Ra402416634b1457b"/>
    <p:sldId xmlns:r="http://schemas.openxmlformats.org/officeDocument/2006/relationships" id="267" r:id="Rd918dfde06314256"/>
    <p:sldId xmlns:r="http://schemas.openxmlformats.org/officeDocument/2006/relationships" id="268" r:id="Re728b7c102db4da9"/>
    <p:sldId xmlns:r="http://schemas.openxmlformats.org/officeDocument/2006/relationships" id="269" r:id="R449cf5bb148f4bae"/>
    <p:sldId xmlns:r="http://schemas.openxmlformats.org/officeDocument/2006/relationships" id="270" r:id="Ra335602d0c6140e0"/>
    <p:sldId xmlns:r="http://schemas.openxmlformats.org/officeDocument/2006/relationships" id="271" r:id="R3b0d9cbc68d54222"/>
    <p:sldId xmlns:r="http://schemas.openxmlformats.org/officeDocument/2006/relationships" id="272" r:id="R18513bdfd95b45f5"/>
    <p:sldId xmlns:r="http://schemas.openxmlformats.org/officeDocument/2006/relationships" id="273" r:id="R54f177c7937b42e1"/>
    <p:sldId xmlns:r="http://schemas.openxmlformats.org/officeDocument/2006/relationships" id="274" r:id="Rb57a0244a44b493d"/>
    <p:sldId xmlns:r="http://schemas.openxmlformats.org/officeDocument/2006/relationships" id="275" r:id="R17fddda6fabd4c7a"/>
    <p:sldId xmlns:r="http://schemas.openxmlformats.org/officeDocument/2006/relationships" id="276" r:id="Re8bdd9073b6c43dc"/>
    <p:sldId xmlns:r="http://schemas.openxmlformats.org/officeDocument/2006/relationships" id="277" r:id="Rae56c40bc32848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4827fae2a44d8" /><Relationship Type="http://schemas.openxmlformats.org/officeDocument/2006/relationships/slideMaster" Target="/ppt/slideMasters/slideMaster1.xml" Id="Rfca1290ea9364ed2" /><Relationship Type="http://schemas.openxmlformats.org/officeDocument/2006/relationships/notesMaster" Target="/ppt/notesMasters/notesMaster1.xml" Id="R4c70767769a74c28" /><Relationship Type="http://schemas.openxmlformats.org/officeDocument/2006/relationships/presProps" Target="/ppt/presProps.xml" Id="Rf03d2f308c3743b3" /><Relationship Type="http://schemas.openxmlformats.org/officeDocument/2006/relationships/tableStyles" Target="/ppt/tableStyles.xml" Id="R2f8cb2c894a2424f" /><Relationship Type="http://schemas.openxmlformats.org/officeDocument/2006/relationships/slide" Target="/ppt/slides/slide1.xml" Id="Rc28c5c71fabb4b16" /><Relationship Type="http://schemas.openxmlformats.org/officeDocument/2006/relationships/slide" Target="/ppt/slides/slide2.xml" Id="R452f7f04370442e3" /><Relationship Type="http://schemas.openxmlformats.org/officeDocument/2006/relationships/slide" Target="/ppt/slides/slide3.xml" Id="Re95f2d44d1b54cc9" /><Relationship Type="http://schemas.openxmlformats.org/officeDocument/2006/relationships/slide" Target="/ppt/slides/slide4.xml" Id="R8787f3997afc452e" /><Relationship Type="http://schemas.openxmlformats.org/officeDocument/2006/relationships/slide" Target="/ppt/slides/slide5.xml" Id="Ra1109937df6f4bf7" /><Relationship Type="http://schemas.openxmlformats.org/officeDocument/2006/relationships/slide" Target="/ppt/slides/slide6.xml" Id="Rf730eb8a4ba04586" /><Relationship Type="http://schemas.openxmlformats.org/officeDocument/2006/relationships/slide" Target="/ppt/slides/slide7.xml" Id="R84859ffbd3ff425d" /><Relationship Type="http://schemas.openxmlformats.org/officeDocument/2006/relationships/slide" Target="/ppt/slides/slide8.xml" Id="Re81bcda6f6ed45e4" /><Relationship Type="http://schemas.openxmlformats.org/officeDocument/2006/relationships/slide" Target="/ppt/slides/slide9.xml" Id="R00ddae9cf75242f0" /><Relationship Type="http://schemas.openxmlformats.org/officeDocument/2006/relationships/slide" Target="/ppt/slides/slide10.xml" Id="R3240a9bc394242b8" /><Relationship Type="http://schemas.openxmlformats.org/officeDocument/2006/relationships/slide" Target="/ppt/slides/slide11.xml" Id="Ra402416634b1457b" /><Relationship Type="http://schemas.openxmlformats.org/officeDocument/2006/relationships/slide" Target="/ppt/slides/slide12.xml" Id="Rd918dfde06314256" /><Relationship Type="http://schemas.openxmlformats.org/officeDocument/2006/relationships/slide" Target="/ppt/slides/slide13.xml" Id="Re728b7c102db4da9" /><Relationship Type="http://schemas.openxmlformats.org/officeDocument/2006/relationships/slide" Target="/ppt/slides/slide14.xml" Id="R449cf5bb148f4bae" /><Relationship Type="http://schemas.openxmlformats.org/officeDocument/2006/relationships/slide" Target="/ppt/slides/slide15.xml" Id="Ra335602d0c6140e0" /><Relationship Type="http://schemas.openxmlformats.org/officeDocument/2006/relationships/slide" Target="/ppt/slides/slide16.xml" Id="R3b0d9cbc68d54222" /><Relationship Type="http://schemas.openxmlformats.org/officeDocument/2006/relationships/slide" Target="/ppt/slides/slide17.xml" Id="R18513bdfd95b45f5" /><Relationship Type="http://schemas.openxmlformats.org/officeDocument/2006/relationships/slide" Target="/ppt/slides/slide18.xml" Id="R54f177c7937b42e1" /><Relationship Type="http://schemas.openxmlformats.org/officeDocument/2006/relationships/slide" Target="/ppt/slides/slide19.xml" Id="Rb57a0244a44b493d" /><Relationship Type="http://schemas.openxmlformats.org/officeDocument/2006/relationships/slide" Target="/ppt/slides/slide20.xml" Id="R17fddda6fabd4c7a" /><Relationship Type="http://schemas.openxmlformats.org/officeDocument/2006/relationships/slide" Target="/ppt/slides/slide21.xml" Id="Re8bdd9073b6c43dc" /><Relationship Type="http://schemas.openxmlformats.org/officeDocument/2006/relationships/slide" Target="/ppt/slides/slide22.xml" Id="Rae56c40bc32848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7596aac36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VA03">
  <a:themeElements>
    <a:clrScheme name="EVA03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VA03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852d42bff4ec2" /><Relationship Type="http://schemas.openxmlformats.org/officeDocument/2006/relationships/notesMaster" Target="/ppt/notesMasters/notesMaster1.xml" Id="R903693614eba46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51ce17c3144915" /><Relationship Type="http://schemas.openxmlformats.org/officeDocument/2006/relationships/notesMaster" Target="/ppt/notesMasters/notesMaster1.xml" Id="Rd0a6a554c1e645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7a4cfb77634fe3" /><Relationship Type="http://schemas.openxmlformats.org/officeDocument/2006/relationships/notesMaster" Target="/ppt/notesMasters/notesMaster1.xml" Id="R05d270b71647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4e4bab089e4922" /><Relationship Type="http://schemas.openxmlformats.org/officeDocument/2006/relationships/notesMaster" Target="/ppt/notesMasters/notesMaster1.xml" Id="R263aeccdf178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af23fd86f14123" /><Relationship Type="http://schemas.openxmlformats.org/officeDocument/2006/relationships/notesMaster" Target="/ppt/notesMasters/notesMaster1.xml" Id="R26d653202b344e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c02120b71a4403" /><Relationship Type="http://schemas.openxmlformats.org/officeDocument/2006/relationships/notesMaster" Target="/ppt/notesMasters/notesMaster1.xml" Id="Rc7d7ccfbd73c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57f6264f1449c3" /><Relationship Type="http://schemas.openxmlformats.org/officeDocument/2006/relationships/notesMaster" Target="/ppt/notesMasters/notesMaster1.xml" Id="Ra2fc942254414e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5d39d1577b4295" /><Relationship Type="http://schemas.openxmlformats.org/officeDocument/2006/relationships/notesMaster" Target="/ppt/notesMasters/notesMaster1.xml" Id="R5966fb3b84c346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b0f80a0aa14403" /><Relationship Type="http://schemas.openxmlformats.org/officeDocument/2006/relationships/notesMaster" Target="/ppt/notesMasters/notesMaster1.xml" Id="R09d098c3bce241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06bf33ef7c4ec2" /><Relationship Type="http://schemas.openxmlformats.org/officeDocument/2006/relationships/notesMaster" Target="/ppt/notesMasters/notesMaster1.xml" Id="Rcae74e69077740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da972f66094905" /><Relationship Type="http://schemas.openxmlformats.org/officeDocument/2006/relationships/notesMaster" Target="/ppt/notesMasters/notesMaster1.xml" Id="R63ca479c02334c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6f471e4204a14" /><Relationship Type="http://schemas.openxmlformats.org/officeDocument/2006/relationships/notesMaster" Target="/ppt/notesMasters/notesMaster1.xml" Id="Rfd4213f131be44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5518f6ff4749b8" /><Relationship Type="http://schemas.openxmlformats.org/officeDocument/2006/relationships/notesMaster" Target="/ppt/notesMasters/notesMaster1.xml" Id="R2beb4373b77f47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b7e3ba42dc44b1" /><Relationship Type="http://schemas.openxmlformats.org/officeDocument/2006/relationships/notesMaster" Target="/ppt/notesMasters/notesMaster1.xml" Id="Rce7f22a38fde42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6c936384324cab" /><Relationship Type="http://schemas.openxmlformats.org/officeDocument/2006/relationships/notesMaster" Target="/ppt/notesMasters/notesMaster1.xml" Id="Rb4f71c415a3740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e7a2e85f1d4063" /><Relationship Type="http://schemas.openxmlformats.org/officeDocument/2006/relationships/notesMaster" Target="/ppt/notesMasters/notesMaster1.xml" Id="R5164108b458148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2b23615eb546e4" /><Relationship Type="http://schemas.openxmlformats.org/officeDocument/2006/relationships/notesMaster" Target="/ppt/notesMasters/notesMaster1.xml" Id="R4f24ea7ebff04e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6e70efea95489e" /><Relationship Type="http://schemas.openxmlformats.org/officeDocument/2006/relationships/notesMaster" Target="/ppt/notesMasters/notesMaster1.xml" Id="R17ccc85927ee4e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30f59255db44a0" /><Relationship Type="http://schemas.openxmlformats.org/officeDocument/2006/relationships/notesMaster" Target="/ppt/notesMasters/notesMaster1.xml" Id="R3904a5317cd548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2ee499f5f74819" /><Relationship Type="http://schemas.openxmlformats.org/officeDocument/2006/relationships/notesMaster" Target="/ppt/notesMasters/notesMaster1.xml" Id="R258b1fe34f4042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a9c4f0259f4a9e" /><Relationship Type="http://schemas.openxmlformats.org/officeDocument/2006/relationships/notesMaster" Target="/ppt/notesMasters/notesMaster1.xml" Id="Rc9df5d06f04d4a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22f845ab7646ba" /><Relationship Type="http://schemas.openxmlformats.org/officeDocument/2006/relationships/notesMaster" Target="/ppt/notesMasters/notesMaster1.xml" Id="R0424cd544363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 Carlos abre. Explicar el terreno como una maqueta con una regla de alturas. No atribuir topografía real a Marte ni certificar la colonia. Después de la lámina 3, abrir las escenas 1 a 3 del modelo para mostrar ejes, relieve y curvas.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 Carlos. f es la receta de alturas: dos coordenadas producen una cota en metros. Mostrar que f(0,0)=24 m. Distinguir dominio matemático de dominio físico. La razón de la restricción es el área estudiada, no una discontinuidad de la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 Carlos. Usar la comparación de las líneas de un mapa: una curva une sitios a la misma altura. Señalar las seis curvas, las dos trazas y tres evaluaciones en la escena 3. Al terminar esta lámina, cambiar al modelo y recorrer escenas 1 a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Señalar que las dos primeras parciales son inclinaciones en ejes perpendiculares. Sustituirlas en la ecuación del plano y explicar por qué el vector normal es perpendicular. Si preguntan, f(P)=21.4359375 m. Abrir la escena 4 del modelo en el bloque de fase 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 Carlos puede presentar la analogía de una tabla apoyada sobre una loma. Davis explica la resta exacta 0.024811 m y el error porcentual 0.117 % si lo piden. La separación visible en el modelo está ampliada ×80, sin cambiar el terreno. Mostrar escena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∇f(P)=(-0.091125,0.0455625) y su norma es 0.101881. Explicar que las unidades son metros verticales por metro horizontal. En Q la norma es 0.108951. Mostrar escena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En Q usar u=(1,−2)/√5. El producto escalar produce 9.485 cm de ascenso por metro horizontal. En P, el rumbo (3/5,4/5) produce descenso de 1.8225 cm/m. Justificar la norma 1: sin ella el valor no sería una pendiente por metro. Mostrar escena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z′ positivo significa subida; negativo, bajada; cero, instante tangente a una curva de nivel. t no mide segundos. Para velocidad vertical física se multiplicaría por dt/dτ. Al terminar la lámina 8, mostrar en el modelo escenas 4 a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Presentar el Hessiano como una prueba de curvatura en dos direcciones: mínimo, máximo y silla. No confundir la clasificación libre con la optimización sobre un círculo. Mostrar escena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La reducción relativa frente a B⁻ es 41.46 %. Aclarar que el círculo no es una carretera construida, que B⁺ no es óptimo global del campus y que no prueba capacidad portante. Al terminar la lámina 10, mostrar escenas 9 y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Haroldo explica el hilo pegado al relieve. Davis toma las derivadas si preguntan. Evitar llamar velocidad física a r′ sin fijar una ley temporal. Mostrar escena 11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Haroldo explica la analogía del hilo estirado y señala inicio, punto de control y final. Davis muestra la integral si la solicitan. Los 226.205 m corresponden solo a la ruta principal de reconocimiento. Mostrar escena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En el punto mostrado κ≈0.013886 m⁻¹. La propuesta de velocidad límite usa aceleración lateral supuesta; no incluye obstáculos ni interacción real entre ruedas y suelo. Tras esta lámina, mostrar escenas 11 a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Haroldo usa la analogía de una rebanada de dona. El cálculo rápido del área es (72²−60²)π/8=622.035 m². No confundir R con una losa ni con toda la superficie ocupada por paneles. Mostrar escena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La integral doble mide el volumen entre el datum z=0 y la superficie porque f es positiva en R. No presentarlo como excavación. Mostrar el barrido de la escena 15 y el volumen acumulado.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Recordar que dA=r dr dθ en polares. El factor √(1+fₓ²+fᵧ²) recoge la inclinación. Tras la lámina 16, mostrar escenas 14 a 16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Explicar la forma como media pelota estirada. El origen global del depósito es (0,−94); las integrales se expresan en coordenadas locales (u,v,w). Mostrar escena 17 y sus cortes.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Multiplicar 18·14·8=2016 y agregar el jacobiano esférico ρ²senφ. Comparar el mismo depósito en cartesianas y coordenadas transformadas. Mostrar escena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Esta derivación se debe saber de memoria: límites, jacobiano, tres integrales separadas y producto final. Al terminar la lámina 19, mostrar escenas 17 a 19, especialmente la cuña que crece en el orden ρ, φ, 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El valor calculado es M=3 797 114.863 kg. El término vertical no se cancela porque E incluye solo w≥0. No decir que se midió un fluido real ni que la masa asegura estabilidad. Mostrar escena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Davis. Definir los momentos como ∭uδdV, ∭vδdV y ∭wδdV. El centro geométrico de densidad uniforme está en (0,0,3) m; la comparación se amplía ×35 solo para verse en el 3D. Mostrar escena 21 completa en cuatro etapas: densidad, momentos, centro, proyección.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compartido. Juan Carlos resume el suelo común; Haroldo, la ruta y R; Davis, la reserva y el límite de la demostración. Abrir escena 22 del modelo y dejarla para preguntas. No inventar datos administrativos ni contribuciones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Ruta: primero explicar fórmula, pasos y resultado en PowerPoint; después demostrar el bloque correspondiente en el modelo 3D. El desarrollo completo queda en el anexo.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463cec00442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7dd4a404246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54fd7da0f4f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6885080e641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ce7a3a0f140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6d5a9f573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4B23B1-3A5D-4948-AE46-8ACB6C9FF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B22063-39D6-4DF3-9A7C-49470BA270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960872-7F1D-43C2-B38B-771CBE4B0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C9C8C6-8E8D-44AD-A861-9FD70BC3F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F0D6A7-6657-4E6A-85BE-52B847FF4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9DFD7B-FC20-44E0-BF43-29F3A772A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853379-D72B-48DA-AD5C-B201688557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6ABBCE-CE16-4889-B09E-2772DFF346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B7B8B3-DA06-4F03-81C6-B624CEDD7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06D3DA-F702-4BA2-8765-D24CCC12DD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d9849ceaf4751" /><Relationship Type="http://schemas.openxmlformats.org/officeDocument/2006/relationships/slideLayout" Target="/ppt/slideLayouts/slideLayout1.xml" Id="R6cd3999ee609406f" /><Relationship Type="http://schemas.openxmlformats.org/officeDocument/2006/relationships/slideLayout" Target="/ppt/slideLayouts/slideLayout2.xml" Id="Ra9a7fe6a45bc4e8b" /><Relationship Type="http://schemas.openxmlformats.org/officeDocument/2006/relationships/slideLayout" Target="/ppt/slideLayouts/slideLayout3.xml" Id="Ra9e2d112868f4c56" /><Relationship Type="http://schemas.openxmlformats.org/officeDocument/2006/relationships/slideLayout" Target="/ppt/slideLayouts/slideLayout4.xml" Id="Rf2b46d764be645fe" /><Relationship Type="http://schemas.openxmlformats.org/officeDocument/2006/relationships/slideLayout" Target="/ppt/slideLayouts/slideLayout5.xml" Id="R2238744c6a2544f4" /><Relationship Type="http://schemas.openxmlformats.org/officeDocument/2006/relationships/slideLayout" Target="/ppt/slideLayouts/slideLayout6.xml" Id="R3eec69e915ff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d3999ee609406f"/>
    <p:sldLayoutId xmlns:r="http://schemas.openxmlformats.org/officeDocument/2006/relationships" id="2147483650" r:id="Ra9a7fe6a45bc4e8b"/>
    <p:sldLayoutId xmlns:r="http://schemas.openxmlformats.org/officeDocument/2006/relationships" id="2147483651" r:id="Ra9e2d112868f4c56"/>
    <p:sldLayoutId xmlns:r="http://schemas.openxmlformats.org/officeDocument/2006/relationships" id="2147483652" r:id="Rf2b46d764be645fe"/>
    <p:sldLayoutId xmlns:r="http://schemas.openxmlformats.org/officeDocument/2006/relationships" id="2147483653" r:id="R2238744c6a2544f4"/>
    <p:sldLayoutId xmlns:r="http://schemas.openxmlformats.org/officeDocument/2006/relationships" id="2147483654" r:id="R3eec69e915ff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VA03">
  <a:themeElements>
    <a:clrScheme name="EVA03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VA03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f0115e3de4450" /><Relationship Type="http://schemas.openxmlformats.org/officeDocument/2006/relationships/notesSlide" Target="/ppt/notesSlides/notesSlide1.xml" Id="R17e915100d39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a41c53aa14220" /><Relationship Type="http://schemas.openxmlformats.org/officeDocument/2006/relationships/notesSlide" Target="/ppt/notesSlides/notesSlide2.xml" Id="R997af2cbfe4b41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d58f7c3d94eef" /><Relationship Type="http://schemas.openxmlformats.org/officeDocument/2006/relationships/notesSlide" Target="/ppt/notesSlides/notesSlide3.xml" Id="R04c31c8bf3a94f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4ac0fd0a64ef5" /><Relationship Type="http://schemas.openxmlformats.org/officeDocument/2006/relationships/notesSlide" Target="/ppt/notesSlides/notesSlide4.xml" Id="R762bec00b88042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7b2b416524f20" /><Relationship Type="http://schemas.openxmlformats.org/officeDocument/2006/relationships/notesSlide" Target="/ppt/notesSlides/notesSlide5.xml" Id="R4cc0ef927b7d41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7e648612440c4" /><Relationship Type="http://schemas.openxmlformats.org/officeDocument/2006/relationships/notesSlide" Target="/ppt/notesSlides/notesSlide6.xml" Id="R5a0edb6f80f945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6a91869214651" /><Relationship Type="http://schemas.openxmlformats.org/officeDocument/2006/relationships/notesSlide" Target="/ppt/notesSlides/notesSlide7.xml" Id="R13c66ad18abf44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39a2c9a4b449f" /><Relationship Type="http://schemas.openxmlformats.org/officeDocument/2006/relationships/notesSlide" Target="/ppt/notesSlides/notesSlide8.xml" Id="Racfea270bfbe49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0efd13a264fbb" /><Relationship Type="http://schemas.openxmlformats.org/officeDocument/2006/relationships/notesSlide" Target="/ppt/notesSlides/notesSlide9.xml" Id="Raae1a8469fc2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6105a2a094020" /><Relationship Type="http://schemas.openxmlformats.org/officeDocument/2006/relationships/notesSlide" Target="/ppt/notesSlides/notesSlide10.xml" Id="Ra88b06033d444b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0c37a0ec844ec" /><Relationship Type="http://schemas.openxmlformats.org/officeDocument/2006/relationships/notesSlide" Target="/ppt/notesSlides/notesSlide11.xml" Id="R9495c7431f1e48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ad23cc32943b2" /><Relationship Type="http://schemas.openxmlformats.org/officeDocument/2006/relationships/notesSlide" Target="/ppt/notesSlides/notesSlide12.xml" Id="Rc94495cda6e444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843659c254dec" /><Relationship Type="http://schemas.openxmlformats.org/officeDocument/2006/relationships/notesSlide" Target="/ppt/notesSlides/notesSlide13.xml" Id="R03a4e6926e254f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7ea613865417d" /><Relationship Type="http://schemas.openxmlformats.org/officeDocument/2006/relationships/notesSlide" Target="/ppt/notesSlides/notesSlide14.xml" Id="Rcd577ec262e54c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dcc5be6db418c" /><Relationship Type="http://schemas.openxmlformats.org/officeDocument/2006/relationships/notesSlide" Target="/ppt/notesSlides/notesSlide15.xml" Id="R18e0f5f1a5594a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9e4aa1bf6413e" /><Relationship Type="http://schemas.openxmlformats.org/officeDocument/2006/relationships/notesSlide" Target="/ppt/notesSlides/notesSlide16.xml" Id="R7ca3e3733d8648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6be439b4c4ff3" /><Relationship Type="http://schemas.openxmlformats.org/officeDocument/2006/relationships/notesSlide" Target="/ppt/notesSlides/notesSlide17.xml" Id="R6157eef5335343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3f66e993b45ff" /><Relationship Type="http://schemas.openxmlformats.org/officeDocument/2006/relationships/notesSlide" Target="/ppt/notesSlides/notesSlide18.xml" Id="Rc67b907d0ac840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39f5cc1e64f2d" /><Relationship Type="http://schemas.openxmlformats.org/officeDocument/2006/relationships/notesSlide" Target="/ppt/notesSlides/notesSlide19.xml" Id="R23349a7ec46444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b65032fb04dec" /><Relationship Type="http://schemas.openxmlformats.org/officeDocument/2006/relationships/notesSlide" Target="/ppt/notesSlides/notesSlide20.xml" Id="R0f2c0031c2d742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0b4b2caa24d31" /><Relationship Type="http://schemas.openxmlformats.org/officeDocument/2006/relationships/notesSlide" Target="/ppt/notesSlides/notesSlide21.xml" Id="R25e0bd2c66904c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40768c41c4b11" /><Relationship Type="http://schemas.openxmlformats.org/officeDocument/2006/relationships/notesSlide" Target="/ppt/notesSlides/notesSlide22.xml" Id="R62323031ee934a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46104C9E-80F5-4217-8F88-716A9F5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PUNTO DE PARTIDA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23CF612D-A64D-4703-BB4E-90397D5C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01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F6ED16-39EC-4216-871E-B667A5A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Una base en un mismo terreno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8BD5D055-0649-43B5-B6C6-37EC344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ECF2A5F7-F1BC-4AB5-99B2-53DDD2A7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z = f(x, y)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C741AE82-3951-43D3-9DA6-D1D6E21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E8C9B1C-A1BC-40F4-A739-60C5DED1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489C85EA-B9DF-4AFB-B500-0AA583F1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Elegimos una escala: 1 unidad = 1 metro.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600155D-10EE-4A32-B751-A628429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2487D6F-8E83-4ED6-9219-8C1D890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Cada posición (x, y) recibe una altura z.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06AB39E-75CF-4CF7-BABC-542BF51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A5D4AC7D-E76A-4457-9A4A-1ACE645D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Sobre ese suelo ubicamos ruta, región R y depósito E.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39992318-EB19-4BC3-9925-DDD25E52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0B83B94C-331A-446E-B82A-0A063577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6 fases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39EDBFA0-6D18-484D-806A-FF887BDB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un sistema de coordenadas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752EECA7-84F8-4BB9-8DE0-9DE6BFBB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F9E3F5E6-BBAD-4208-817E-2FDECA82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propuesta es académica: las decisiones se comprueban con cálculo y después se ven en el modelo.</a:t>
            </a:r>
          </a:p>
        </p:txBody>
      </p:sp>
    </p:spTree>
    <p:extLst>
      <p:ext uri="{BB962C8B-B14F-4D97-AF65-F5344CB8AC3E}">
        <p14:creationId xmlns:p14="http://schemas.microsoft.com/office/powerpoint/2010/main" val="88465576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46B81F2A-D4A6-4D96-A2DD-7154061C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 · TERRENO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AF788B1D-1551-41E8-944C-CE28A58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02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36ED17-B1E1-42CD-84CD-CA0AE8B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La función que da la altura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F1A82745-8F1C-45C1-B667-14391F2F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E079CE83-77EC-41C1-B927-F4241478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f(x,y)=18+6[(x²+y²)/6400−1]²+0.012x−0.006y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09C42407-DFF7-4487-923E-95F7C7C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0139B74-6801-48C8-86BB-36E12329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06BC9A21-461F-482B-A864-6C8BABB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Calculamos f para cualquier par (x, y).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DBD53F1-B894-45C4-9F6C-51A000F6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E329883B-4A72-42E9-89CF-DC4B3E8A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fórmula existe en todo ℝ²: es un polinomio.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AC3FB071-CA06-439B-BC83-E6EEAAD1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E0402C7F-0C45-458A-8D72-8CFF8F9E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Para el diseño usamos D: x²+y² ≤ 110².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2870A88-CFEB-4EE9-BE3D-2F669CDB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204EC2CC-3EFB-47B0-A993-92438CC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110 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15D6FE24-AF9A-4369-AD90-179F99BB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radio del sector estudiado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76DE9E06-D68F-44E5-B459-6B44E629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85C8B478-B7B5-4855-8AD1-C4CE8E31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 limita dónde tomamos decisiones; fuera del disco solo aparece paisaje de contexto.</a:t>
            </a:r>
          </a:p>
        </p:txBody>
      </p:sp>
    </p:spTree>
    <p:extLst>
      <p:ext uri="{BB962C8B-B14F-4D97-AF65-F5344CB8AC3E}">
        <p14:creationId xmlns:p14="http://schemas.microsoft.com/office/powerpoint/2010/main" val="5379405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84C83F3E-48F8-40BC-8F36-A070000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 · TERRENO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3B12992E-1814-4E92-8237-7B43164C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03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5F878A-6C39-4D12-AAC2-47897A76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Cómo leemos el relieve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E4D210F0-B381-4F28-BE75-C51AE407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07DF5FAA-631C-4893-AA05-8655DD91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f(x,y) = k   →   misma elevación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CA3D59C3-B7B5-486E-A6BF-4794B8EC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59F1B3A-CEA9-4E49-97FD-A3D87B5D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590AA77-99B0-464F-96F6-3982EDFD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Fijamos una altura k y dibujamos su curva.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B25F49A-D5B0-468D-B08C-8084CE33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7816AAC6-F6D4-4967-B44C-60D94FA6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Trazamos dos cortes verticales del terreno.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37E938F-48AB-4CA9-9FF1-F78519E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DB2FBA8E-31B9-431C-BF40-3631CE9D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Evaluamos f en tres puntos de referencia.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555156D-FDB5-4D8A-A8EA-3393910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B494BCF5-B3FD-4422-8007-3BAA8643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6 niveles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428DE449-7607-4EBD-BE9D-2BD04F1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más dos trazas y tres cotas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BD776F8B-E577-4E38-8230-957094CD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27C6940B-2AA9-4AFE-B6BE-19285414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Curvas muy juntas anuncian mayor cambio de altura; las trazas dejan ver la forma de lado.</a:t>
            </a:r>
          </a:p>
        </p:txBody>
      </p:sp>
    </p:spTree>
    <p:extLst>
      <p:ext uri="{BB962C8B-B14F-4D97-AF65-F5344CB8AC3E}">
        <p14:creationId xmlns:p14="http://schemas.microsoft.com/office/powerpoint/2010/main" val="55687249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D8D489FC-BE84-4F5C-BF97-B598557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 · CAMBIO LOCAL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18070F20-BCA1-4AC3-858A-7D3DBBD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04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698DC6-D56E-4B66-838F-33FC6DEB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Plano tangente y normal en P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E9FF1725-A54D-49FB-8A76-7640A3C5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D4A83B92-5515-4C00-9650-DB93CD0A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z−f(P)=fₓ(P)(x−40)+fᵧ(P)(y+20)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4DF41FE1-E922-4E7C-8D5A-7F0E29E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6B1278C-54F9-4273-BCD8-1837B16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8CF2483-FDD0-4457-B5A2-41DF38A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Derivamos f respecto de x y de y.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E7A95E66-DC05-4A6B-B6FE-6E8CEAC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27C72B2-1B58-4370-AD64-F7973220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En P=(40,−20): fₓ=−0.091125; fᵧ=0.0455625.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EF3DD82-55F2-4C20-AFD5-C233E55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81F4664D-07EA-4C89-A370-6719F7E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normal es (−fₓ(P), −fᵧ(P), 1).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DD2FFF6-E3D8-4EF7-AE4C-527C6302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8A6CB559-21D1-4724-8545-D09FEAC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21.43594 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6B23ED44-2B50-4D86-AA88-57F110FF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altura f(P) donde toca el plano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69437F38-AD73-4E88-9446-560C8408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4AA8FEEB-807C-43D1-BF08-2B75FA70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plano aproxima la loma cerca de P; las segundas derivadas describen cómo cambia la pendiente.</a:t>
            </a:r>
          </a:p>
        </p:txBody>
      </p:sp>
    </p:spTree>
    <p:extLst>
      <p:ext uri="{BB962C8B-B14F-4D97-AF65-F5344CB8AC3E}">
        <p14:creationId xmlns:p14="http://schemas.microsoft.com/office/powerpoint/2010/main" val="158428901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3D0B2631-28A4-418C-BA01-45301AB8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 · CAMBIO LOCAL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CED36102-6B7F-4BF9-93F3-5498C8E4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05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D7FBB0-6056-4BD6-835D-80654766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El error de una predicción cercana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9BCD2CE2-CD3D-4302-9D14-EBB36F7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E668227F-0226-47A5-B6C7-32563F3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error = |f(H)−L(H)|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D45B53C2-B7A6-42B7-BE87-8E3C190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D67AC24-3675-4C6E-96AC-5D55A3A5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10ED2A89-DACF-43D0-825D-714F89C9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Usamos el plano L construido en P.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53F8041D-EC62-44D1-A9EF-A9EFCD7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0FB649B0-4D4A-4A20-9118-AC5F67D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En H=(44,−17): L(H)=21.20813 m.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F79D862-F54A-44BC-BD42-293DF89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0A6043AF-2845-4F35-9FC6-8EF5FCA5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terreno real da f(H)=21.18331 m.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902DC9B-9282-436C-BCCB-E2D53929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FC014F47-243B-446D-9067-C6298C8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2.48 cm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9EDF88D3-9187-4149-AB58-CAEBAB6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error absoluto en H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19D3B2DB-0081-44AA-B050-48903C34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3D419341-0E46-4D7E-B8D0-1A2E9B7C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Una superficie curva y un plano coinciden cerca del contacto; al alejarnos, la diferencia crece.</a:t>
            </a:r>
          </a:p>
        </p:txBody>
      </p:sp>
    </p:spTree>
    <p:extLst>
      <p:ext uri="{BB962C8B-B14F-4D97-AF65-F5344CB8AC3E}">
        <p14:creationId xmlns:p14="http://schemas.microsoft.com/office/powerpoint/2010/main" val="174067332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24AFBC7D-5CF8-40F2-86A2-EE4EAC92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 · GRADIENTE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F4B00CF2-9A65-4DFE-8120-E18F19F3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06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5A9C32-F21F-4A4B-B2D6-5FEA878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Dónde aumenta más la altura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19889CC9-D5AC-4FA4-B359-5E0952B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CF14638D-FE7B-45A8-852F-90EACBF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∇f(P) = (fₓ(P), fᵧ(P))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26572A69-04B1-4806-BAFF-134216A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BE281F9-F7A9-470E-92F9-06888A01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C471D9B7-7D97-4FAE-AB31-0F92726A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Calculamos las dos pendientes en P.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E21186E-5E7C-402B-9238-C73BD000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BDE9BBC0-B189-4E3A-B45C-E0E32123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flecha ∇f marca el ascenso máximo.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98A49DE-B4AA-4B0D-9E11-7E04EDB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2D77063D-3358-4F96-882E-D469B84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flecha −∇f marca el descenso máximo.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08F95439-FE06-4C5C-B844-136D97D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4E9FB403-173D-4870-A19C-A988E3CA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10.19 cm/m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962996F4-5689-43C5-B9A1-8F82F65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pendiente máxima local en P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4633109E-3DF9-4AC6-81B7-59B3A27C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BA2F142B-71D4-4162-8153-E2EB2F4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En Q la magnitud cambia: 0.108951 m/m. La pendiente depende del lugar.</a:t>
            </a:r>
          </a:p>
        </p:txBody>
      </p:sp>
    </p:spTree>
    <p:extLst>
      <p:ext uri="{BB962C8B-B14F-4D97-AF65-F5344CB8AC3E}">
        <p14:creationId xmlns:p14="http://schemas.microsoft.com/office/powerpoint/2010/main" val="8939122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1E22FC52-2442-4544-AAE1-83078B68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 · DIRECCIONES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A5B55ED7-5CD4-4BA1-BAE1-A0B4D38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07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C83D75-0574-4A12-9298-506A803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Pendiente en un rumbo elegido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6524D23C-0818-4E9F-BCCD-E7EFF04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A0D6E392-5164-4E7C-AE7F-2788A74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Dᵤf(Q) = ∇f(Q) · u     con ‖u‖=1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588CEE32-CA23-40B4-A7E6-36A9BF1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48A9EB0-F4DF-476A-BF8C-83D42323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ED4D61C9-8025-4038-889A-A6F6BAE5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En Q elegimos u=(1,−2)/√5.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5F23CF81-2815-4BA3-80C0-AD7F13F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15804725-D304-47F6-A1B0-3C87424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Multiplicamos ∇f(Q)·u=0.094848.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D840C06F-5BF3-4403-B869-467F8FA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7C6D4342-BEA7-4919-B353-E4B3D10B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signo positivo indica subida.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CD299A0-B0DB-48A2-9DC1-9E24F87A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57A5C2CF-6B8C-4D4C-A2EB-AEBBF46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0.094848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1EC9ED57-EFAC-40F5-BEF1-82A63D79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m/m de ascenso en Q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3AD7B41B-BC63-4036-B1A6-B6543009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4D140FC3-74EE-4D1D-9BAF-94831D1B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En el rumbo elegido en P se obtiene −0.018225 m/m: allí descendemos.</a:t>
            </a:r>
          </a:p>
        </p:txBody>
      </p:sp>
    </p:spTree>
    <p:extLst>
      <p:ext uri="{BB962C8B-B14F-4D97-AF65-F5344CB8AC3E}">
        <p14:creationId xmlns:p14="http://schemas.microsoft.com/office/powerpoint/2010/main" val="20291196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A98D5BE0-4FA2-420A-B275-0417987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 · TRAYECTORIA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13FA9046-C8B9-433E-86D5-9A916942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08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FDBCB5-E85A-438B-8797-04823EBB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La altura cambia al movernos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76FA4D3C-8B6F-4048-8FBF-DF45D22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88B2AED0-68E6-4669-848A-CF86DF3B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z′(t) = fₓ x′(t) + fᵧ y′(t)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8E3F1D2D-51E8-4156-8919-54704438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E564F97-E952-4848-B38E-EF5B48C3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408F7317-7A2A-40EB-BCB2-75210C3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Tomamos x=72 cos t e y=72 sen t.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315524F-2908-4CC6-9AE1-CC0E1E05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881EAF0D-ABF3-4660-A498-86A90335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Sustituimos la ruta en z(t)=f(x(t),y(t)).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0FC4693-F8BC-46F6-8070-77E4EB3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D23E7291-E941-4E1D-B2FB-74A49752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Derivamos con la regla de la cadena.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6740C54-D489-4C5A-8F9D-9BFB71F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7B39E157-C800-4E94-9A3F-C8FEEF63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−0.864 sen t</a:t>
            </a:r>
          </a:p>
          <a:p xmlns:a="http://schemas.openxmlformats.org/drawingml/2006/main">
            <a:pPr algn="l">
              <a:defRPr sz="24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−0.432 cos t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65493F9B-D96F-4B3C-A410-BEC8FD7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cambio de altura respecto de t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9F667D9E-2B11-4821-9B4D-22B9AAA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2F27A419-0AC4-47B2-B730-D4CE0EC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t es un ángulo; para hablar de velocidad física hace falta t como función del tiempo.</a:t>
            </a:r>
          </a:p>
        </p:txBody>
      </p:sp>
    </p:spTree>
    <p:extLst>
      <p:ext uri="{BB962C8B-B14F-4D97-AF65-F5344CB8AC3E}">
        <p14:creationId xmlns:p14="http://schemas.microsoft.com/office/powerpoint/2010/main" val="1784544197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C0D07FFC-F882-4B38-BBBC-3139C6C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III · EXTREMOS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9F1AB724-C973-49AB-8A32-244D478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09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FDE4D1-1926-4E24-A0EC-313B8560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Valle, cima y punto de silla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6241AEDD-885F-4330-BE62-AE9E384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4053D3D4-25FB-4E5F-A634-E97E0C0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fₓ = fᵧ = 0;   Δ = fₓₓfᵧᵧ − fₓᵧ²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C04D245A-CE2E-4090-A902-91A45E0F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EA3B84E-4334-4CF7-86A5-2F8A4FBC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1FAB41D9-7A39-4FF4-8E1A-33AC2D7E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Resolvemos ∇f=0 para los puntos críticos.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5ED9D01-85D2-46DA-9085-20329F59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C7D5C085-0C82-4841-8D3F-2F640D1A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Si Δ&gt;0, fₓₓ distingue mínimo y máximo.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1B223DC-7898-4BA7-9EBC-6319F480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6DC673D4-0360-463B-A5FD-86EA8F44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Si Δ&lt;0, tenemos una silla.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3ACE5B42-E4BD-4481-A721-02BB0F2F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A88C8C33-D2DE-4744-9F2D-C13029DA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3 puntos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E4B2F915-E0A1-48AD-A354-D2C2C851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clasificados en el terreno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0FCF9FD5-DD12-4649-8D0C-3D47D3B7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CE0C20F5-C6DD-408B-954A-A0510A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clasificación es local y explica el relieve; todavía no elige la plataforma de llegada.</a:t>
            </a:r>
          </a:p>
        </p:txBody>
      </p:sp>
    </p:spTree>
    <p:extLst>
      <p:ext uri="{BB962C8B-B14F-4D97-AF65-F5344CB8AC3E}">
        <p14:creationId xmlns:p14="http://schemas.microsoft.com/office/powerpoint/2010/main" val="758616214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D00ABA05-15EA-4A17-9555-C5C7BEEB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III · LAGRANGE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3899E862-1AEE-4E5A-B1EA-3D06AEF8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10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A9071A-7B07-4402-A771-4BEACDD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Elegir la llegada sobre r = 72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235AF0F5-D5B4-491F-8C3C-B8433DF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F1745634-D30C-4B61-9ADA-4B0E20A0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min F=‖∇f‖²    sujeto a x²+y²=72²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923D0F61-CB3C-4FD9-9FFE-E6BCE4F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E16F110-2CC0-4369-BB31-572E8647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FBEE199-3E28-443B-BD95-952B192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Medimos la pendiente máxima local con F.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83824A3-3C6C-426B-A923-E3DAB756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982E9868-B4E7-47CB-9A77-5405B269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Resolvemos ∇F=λ∇g sobre el círculo.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C9BC303-8A86-4778-89A1-F7BEE12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0DBE9414-34D9-4477-8173-064042E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Comparamos las soluciones B⁺ y B⁻.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03DB7931-A8B1-4F6D-BC7D-70583A10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FAEBB6D7-BA82-4317-BC2C-CBA6686C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3.788 %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3E9865E7-95A9-4963-B1AF-7B3C1A24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pendiente de B⁺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B8A6B7D4-0EC9-4D21-B2C9-1F10129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22DD51DE-0A65-4DB5-8665-BF06876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B⁻ da 6.472 %. B⁺ sirve como llegada dentro de esa frontera de comparación.</a:t>
            </a:r>
          </a:p>
        </p:txBody>
      </p:sp>
    </p:spTree>
    <p:extLst>
      <p:ext uri="{BB962C8B-B14F-4D97-AF65-F5344CB8AC3E}">
        <p14:creationId xmlns:p14="http://schemas.microsoft.com/office/powerpoint/2010/main" val="143836931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1B8511C7-8A10-4A27-8DB2-86B445A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IV · MOVIMIENTO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D47010C3-878C-43A7-8AC5-E6FD989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11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C46DDA-DC8C-4F92-9B5A-C5A5B22F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Un rover sobre la misma superficie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46ED0285-76C8-41CE-AB00-A965251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9D80631E-0CAB-4FD5-9FC2-523A28C5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r(t) = (72 cos t, 72 sen t, f(72 cos t,72 sen t))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023B13A0-55F7-4FA9-885E-79CF8085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A87D2D1-A425-4901-A54C-5445C651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32013F8B-D8E3-41C5-96BC-26E2CE96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Las dos primeras coordenadas marcan el camino.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54E9E91-B034-4217-BF7A-36FFA4E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52E7782-392A-47AD-96EC-295F640B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tercera usa la altura del mismo terreno.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D7E2CFB-F39C-486B-8868-3344830E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7AC3DC60-A9C9-41AB-AF7F-56DCDF9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v=r′, a=r″ y T=r′/‖r′‖.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5AE2F59-DDE3-46F5-B9D9-9E7DE01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92E23B4A-F994-4E29-9E0B-1FE0D2DD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ruta 3D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A5B6DEC7-3FEB-4D92-9749-3041B8C1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posición, movimiento y rumbo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CF9552EF-E343-4642-BA4A-3290529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21BF0400-4E84-4E48-847D-EB3CFD65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tangente T indica hacia dónde avanza el rover en cada instante del parámetro.</a:t>
            </a:r>
          </a:p>
        </p:txBody>
      </p:sp>
    </p:spTree>
    <p:extLst>
      <p:ext uri="{BB962C8B-B14F-4D97-AF65-F5344CB8AC3E}">
        <p14:creationId xmlns:p14="http://schemas.microsoft.com/office/powerpoint/2010/main" val="144373666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43B447E6-F14D-4C91-AC7E-68E0188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IV · DISTANCIA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9E32E818-F6BC-4F70-ACA4-01A0DC63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12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9786D8-24A9-4C59-A000-C9323F1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Sumar todos los tramos de ruta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7A8E1867-732B-4538-9358-94EBF472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F537FD42-4998-4B6E-85EE-F5A5BFE0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L = ∫ ‖r′(t)‖ dt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93131F8A-EA74-43AE-B7CB-0BCCAC0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BC4C655-A0D1-4D64-AE61-6C7DF78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CAF01945-65B4-4608-8B04-DD861989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Derivamos la posición r(t).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FC9EEFF6-569F-445A-AEAB-18B0A12C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3BB116EB-E216-4EEF-A76D-F8368F0E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Su norma da longitud por unidad de parámetro.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0F173E3-673C-4BAB-946E-EEC2C54A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AF50603A-86A1-462F-9541-803A540F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Integramos sobre el recorrido completo.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C466CD8-8F1E-4D78-BE0C-B84535B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BACF53E9-2DD1-4BE8-B254-A28126A2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226.205 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EB62090E-498E-463C-82DE-E8F900B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longitud espacial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D98E5D7B-3743-47F7-9D1A-9999D34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AB61F4C8-C232-4399-9017-40675F8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ruta sobre el relieve supera su proyección horizontal; el ramal al taller se mide aparte.</a:t>
            </a:r>
          </a:p>
        </p:txBody>
      </p:sp>
    </p:spTree>
    <p:extLst>
      <p:ext uri="{BB962C8B-B14F-4D97-AF65-F5344CB8AC3E}">
        <p14:creationId xmlns:p14="http://schemas.microsoft.com/office/powerpoint/2010/main" val="168823086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4D11D177-9797-49B3-96D0-61050E4D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IV · CURVATURA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F50D35CC-A64B-443B-B093-2891257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13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194AA6-B0C7-4530-8EF8-1A125D8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Cuánto gira la ruta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50D7720C-6044-4FF1-9AFE-A538C062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C8E3B7E9-A243-4C7A-A589-E889EC88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κ = ‖r′×r″‖ / ‖r′‖³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96241EEC-4DB1-47D6-A090-5569842B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72D5E33-B0F8-45ED-8691-CBB4680F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E2A3EA6-734E-4AEE-A1C1-5B86331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Comparamos dirección y cambio de dirección.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375C088-1233-491C-8199-D98A751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D8B21A2C-BAD9-4E29-ADF4-3EFDEE9F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cociente produce curvatura en m⁻¹.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F8E7BC5-61D0-4584-A483-6BB64261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A2503858-FB57-4CEF-A95E-20E6002E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radio local se obtiene con 1/κ.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61E8FFE-22C5-4698-BC32-3C5CDBDD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EC1E8983-AAFC-4119-8679-BBAEDFB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72.01 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E19FE8B4-7776-46BB-9E91-C8C87FA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radio local aproximado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EE171C1A-089A-4190-A49C-5E678CD3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864C5C6F-6C59-413E-B6C8-6D38D528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Un radio mayor indica giro más suave. La velocidad segura requiere más supuestos.</a:t>
            </a:r>
          </a:p>
        </p:txBody>
      </p:sp>
    </p:spTree>
    <p:extLst>
      <p:ext uri="{BB962C8B-B14F-4D97-AF65-F5344CB8AC3E}">
        <p14:creationId xmlns:p14="http://schemas.microsoft.com/office/powerpoint/2010/main" val="48175625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19729F93-5201-4538-9EC9-F4274AF8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 · REGIÓN R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6E4EC0BA-FA0B-423E-9EFE-6B08DA16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14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F4C186-5A5C-47C6-9DA1-BFF10CAD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Definir la rebanada de terreno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1F104E5D-23D6-4170-8151-A1C68EFF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9B68E98F-4CAB-4EE7-9A64-9082A486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60 ≤ r ≤ 72;    −π/4 ≤ θ ≤ 0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0C54989D-9481-4571-A7ED-F24218D8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938F18E-5289-4759-8F58-3D4BD307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B596766-FECB-462F-AA81-9159DB6E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Dos radios forman los bordes curvos.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8EEB02B-60B2-46F4-890B-52E64E0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49E35EFA-3F28-42E3-94E4-FE433910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Dos ángulos forman los lados rectos.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07EA089A-335B-4991-AC1C-EA9FEC0E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1DFAF8D2-F650-4367-83E8-BC5C275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A=½(72²−60²)(π/4).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52D6A17-7D3C-4F54-B5ED-BF63B93D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9C520FAC-167D-461C-B0D4-19FC900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622.035 m²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F41553E8-5F42-4959-A571-06F6B8B6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proyección horizontal de R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3A3FCDDC-617C-4E9D-A257-7A117C13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EA94EDBD-727D-4D6B-8BB9-C1D4EFC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R ocupa 45° entre dos circunferencias. El área del suelo inclinado se calcula después.</a:t>
            </a:r>
          </a:p>
        </p:txBody>
      </p:sp>
    </p:spTree>
    <p:extLst>
      <p:ext uri="{BB962C8B-B14F-4D97-AF65-F5344CB8AC3E}">
        <p14:creationId xmlns:p14="http://schemas.microsoft.com/office/powerpoint/2010/main" val="158322644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C34AB404-A52A-4D3E-BF63-4EDB4D9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 · INTEGRAL DOBLE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5F81DED7-9F80-4D21-AF9E-4559A36E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15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43924-FF2B-4D1D-9E4C-D17654FD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Volumen bajo el terreno en R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ACD01FD5-2553-48FA-AD58-0B457C44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B89F5F7D-C84D-43CB-8397-8C60D5CB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V=∫[−π/4,0]∫[60,72] f(r cosθ,r senθ) r dr dθ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5C872D75-42D4-4F8A-BE1E-04831E2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3E3DAE7-5148-4570-9935-C5DD9C1E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D93752B4-2CB7-4CDF-A829-B1884214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altura de cada columna es f(x,y).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355D53E-5214-4D79-AE11-A2C42A44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CA8A6442-365B-493A-B9FE-C6F8F597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factor r corrige el área polar.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9B50D2B-F3A7-4C8B-B772-665AFFBE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9F51BFDB-DE9A-4692-8A46-60EE689B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Sumamos todas las columnas del sector.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D1C7686-3254-4FED-88E1-F85D40B7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D7CF562B-A81E-4145-8FEF-63BB0C6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12 119.962 m³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1925E305-9E10-4E86-9AFE-8B9817D6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volumen respecto de z=0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785C1A0E-8425-4DE1-8A4C-BD9330CC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A2AA03B2-97AD-466B-AB1F-4B1D292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Dividir este volumen entre 622.035 m² da la elevación media: 19.484 m.</a:t>
            </a:r>
          </a:p>
        </p:txBody>
      </p:sp>
    </p:spTree>
    <p:extLst>
      <p:ext uri="{BB962C8B-B14F-4D97-AF65-F5344CB8AC3E}">
        <p14:creationId xmlns:p14="http://schemas.microsoft.com/office/powerpoint/2010/main" val="112810880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A90443A7-60AF-4185-96DF-26A8716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 · SUELO REAL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55893536-4613-40DD-B58D-15D91EED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16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5D0AC3-600A-48EC-B701-78D13FE1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La pendiente aumenta el área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FBF1AB2A-08E9-4288-ABCD-2A4C07E0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E55319BE-7881-4A5B-AC00-2615B513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Aₛ = ∬ᵣ √(1+fₓ²+fᵧ²) dA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0145542B-CCA1-4FD1-9C64-55E0A70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8EB7396-74E9-480D-9309-53087BF3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E832A1D3-E969-4F99-A6B9-93689EA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proyección horizontal usa solo dA.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F8594C8-EB67-45A1-AD12-F1FF72B9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07A41837-BE59-4707-9A3C-C0FFCDD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superficie inclinada añade el factor de pendiente.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D3DF2FF-361E-4072-8021-87513D11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C18D7D09-1FC6-4631-B163-3A366FC0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Integramos ambos sobre la misma R.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E4E0913A-9032-4385-8F5A-89994B63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79CE1B0A-1078-48C7-B82A-FDB05045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623.365 m²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EF296D5C-7EC8-4A28-B786-3144528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área real del relieve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06A1ECB8-5F7F-4760-80FD-BA75772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BA72DA29-F9C2-4F4C-9849-B66DCBB8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diferencia es 1.330 m², o 0.214 %. No equivale al área activa de paneles.</a:t>
            </a:r>
          </a:p>
        </p:txBody>
      </p:sp>
    </p:spTree>
    <p:extLst>
      <p:ext uri="{BB962C8B-B14F-4D97-AF65-F5344CB8AC3E}">
        <p14:creationId xmlns:p14="http://schemas.microsoft.com/office/powerpoint/2010/main" val="76005297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6FC7A034-0651-4415-A8ED-E1FDDB7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VI · DEPÓSITO E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30F2FE21-297F-4A39-8A81-FD39E5F5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17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6B029C-4E61-4494-BA1B-1E0F043B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La forma que vamos a integrar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84AD1023-7A60-495C-B51F-F323EF7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8E38EC18-01B3-47DB-9CBE-783D431C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u²/18² + v²/14² + w²/8² ≤ 1;    w ≥ 0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3E2BC239-73BE-47B1-8D97-E817A8BD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79029F0-E39C-4745-B89A-3C472B41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5A1F28A9-7DAF-49D1-AFA5-F3EA22D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centro local está en la base del depósito.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8E9AA9F-1203-4C4E-8C08-D258C409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7F3C9820-EAF2-49EB-8525-5CB836B7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Los semiejes son 18, 14 y 8 m.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086ECFF1-F398-48B5-AA1A-A5A468C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D66B4404-D53E-4F22-8BB6-24A4AE5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Tomamos solo la mitad superior.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FBD5F93-6537-4937-8E93-90F2A356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1014DC06-2931-4AFA-B2DF-16CDE1D2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62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36 × 28 × 8 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E0BA5695-72B1-43A3-92CE-D2406ED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dimensiones completas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67A95561-CC6F-4719-9870-DF18309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E0D8E899-533E-4157-A519-0D44A130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sólido matemático es un semielipsoide; la estructura física necesitaría otra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190483869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A24F835C-8536-483E-9FDA-952C883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VI · CAMBIO DE VARIABLES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0645FC36-7D83-420C-B6A6-286F505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18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60B0E0-3F8A-4CB4-99EF-7DDC3F92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De semiesfera a depósito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92218A2C-10C0-4B8C-8F3A-FBBE252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B331764E-AA68-4C3C-8A5C-869C8EE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u=18ρ senφ cosθ;  v=14ρ senφ senθ;  w=8ρ cosφ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9E500BAA-F6E6-40CA-A2A4-BF04CA13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F2B6DDE-E78E-439E-BFA1-8FBE6C69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4F71629-9BCB-481A-89C4-702A68DB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ρ va de 0 a 1; φ de 0 a π/2.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E82F9CD-D302-41CC-85B7-0E38D908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2D2C2AD-C772-4E31-9576-8E0066C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θ completa la vuelta de 0 a 2π.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DAFFC95-3916-4E64-AD9B-1AEDFB3A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C98EC16C-4632-4D29-B748-F532D819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estiramiento corrige dV con su jacobiano.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D9235E7-202F-44DB-A45A-CBF6426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0E076CD5-32DC-4CB1-A2A3-7A6C9F5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2016ρ² senφ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21CAEE8D-EFDC-453E-87A8-01D162A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factor de volumen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91AEB1BE-DB49-47B8-B2A2-588262F8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FBDDA0EE-741C-4F5F-A985-E562AD4B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Los límites quedan constantes; en cartesianas las raíces anidadas hacen la cuenta más larga.</a:t>
            </a:r>
          </a:p>
        </p:txBody>
      </p:sp>
    </p:spTree>
    <p:extLst>
      <p:ext uri="{BB962C8B-B14F-4D97-AF65-F5344CB8AC3E}">
        <p14:creationId xmlns:p14="http://schemas.microsoft.com/office/powerpoint/2010/main" val="153261543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94F36330-668A-4D35-80AB-4022E30D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VI · INTEGRAL TRIPLE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4E09A29E-4887-4138-925A-224B94A2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19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93BC55-3CA5-4D4F-A6E0-900DE2EB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Demostrar la capacidad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A24DEB08-9EB2-45BC-8DB3-8E618BA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641C7F13-11F8-4A3C-B569-E29BCFA8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V=∫[0,2π]∫[0,π/2]∫[0,1] 2016ρ² senφ dρ dφ dθ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072AF595-6A16-4C80-BE09-0A11F52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92FAB35-819F-495E-90C6-058FB81A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F4733119-D545-4B7D-924C-6D785F90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∫₀¹ρ² dρ = 1/3.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A3C10F2-D895-483C-A9E3-D0FEE26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B29DF3C7-3014-4878-BC77-DECE3474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∫₀π/2 senφ dφ = 1.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0BB16D8-A398-4A2D-896B-CEB5D37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71E116FE-5157-40B4-AA2A-EF2DF15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∫₀²π dθ = 2π.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C5BA36E-5984-4DC1-A0E9-80F38B8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D6957C9D-3553-49D3-9956-825B43D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1344π m³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02C048A2-2B5C-4DBA-9EED-0D17685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≈ 4 222.301 m³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B719C5FE-49BD-4F8E-806A-7F8D8AE7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B5F83247-0034-4B56-957C-A0F78AC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2016·(1/3)·1·(2π) da la capacidad geométrica si el depósito está lleno.</a:t>
            </a:r>
          </a:p>
        </p:txBody>
      </p:sp>
    </p:spTree>
    <p:extLst>
      <p:ext uri="{BB962C8B-B14F-4D97-AF65-F5344CB8AC3E}">
        <p14:creationId xmlns:p14="http://schemas.microsoft.com/office/powerpoint/2010/main" val="68168678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463AA9F3-4447-4562-AB65-58FABF0F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VI · DENSIDAD Y MASA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CEC0DDB6-84D4-4662-82F7-5DDFFE62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20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FEFB68-2760-4F02-B12A-73D002E4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La cantidad de materia cambia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0E39D4C6-D33C-4B16-9E20-47287C8E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56E84046-2AB9-44F6-A8BB-B8F9DDC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δ=920(1+0.04u/18−0.06w/8) kg/m³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40B173F3-35FF-4FE3-AF60-18AEF0A2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F9001D8-C28B-4CB6-A619-8072C4F2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A2E0CAB-DC52-43CF-814B-C5137AF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Comprobamos que δ es positiva en todo E.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DA16CD1-FB70-4702-A980-5067FC81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7F2FD98D-F4DB-4135-9220-4D20AA4C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Calculamos M=∭E δ dV.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7B141E7-2F08-4A86-ADB5-5345181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B068D01B-0312-4CAF-AB85-3D3D6E0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El término lineal en u se cancela por simetría.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C958C7F-7681-440E-8899-7B91B69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8761DDC5-25C3-40B8-A383-AA8969E0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3.797 × 10⁶ kg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1A6EDF9E-19DF-4AB6-904F-BAAF579B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masa del contenido supuesto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D4AF0DE5-3BB7-4D7C-A70B-90D188A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D8C5953D-3136-4A67-8F3E-6E5E69F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δ mínima ≈ 853.658 kg/m³. Esta densidad es una hipótesis del modelo.</a:t>
            </a:r>
          </a:p>
        </p:txBody>
      </p:sp>
    </p:spTree>
    <p:extLst>
      <p:ext uri="{BB962C8B-B14F-4D97-AF65-F5344CB8AC3E}">
        <p14:creationId xmlns:p14="http://schemas.microsoft.com/office/powerpoint/2010/main" val="1010388127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7249123E-44EB-47F4-B893-C91E45F5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VI · MOMENTOS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EA450AFB-9640-46AA-9EC0-3AE3D19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21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056799-C122-4BB7-BDAB-95E2C305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Dónde se concentra la masa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8B00DED2-243D-4326-B3FC-E4A3CF13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4F82DE0B-DE6E-4F9D-B9A7-5B9D565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(ū,v̄,w̄)=1/M(∭E uδdV, ∭E vδdV, ∭E wδdV)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32BCDFCC-ECE9-4463-BEDA-9E81188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A3FDBDD-76F5-45E6-8E3B-A6B62821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AC9E798-032F-449C-9D71-AA52EA6C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Cada momento pesa una coordenada por δ.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83DBB30-ABB6-406A-8E00-CEB9472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E0D8B16C-CF05-46C6-9452-45CFB6A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simetría en v deja v̄=0.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20115B5-7D4E-4B0B-96FD-26EBC01B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B10BBFB4-C4C1-4B49-9161-C6F67C48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Dividimos los tres momentos entre M.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C275231-64A5-42E1-80B2-22D9822A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417DF5B7-2D44-49EF-B2DF-6610616B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(0.147, 0, 2.971) m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729B295C-0910-4635-9DB1-FF2CE80A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centro de masa local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1E4A07C9-5CBC-498C-AA47-4FC97363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82421DBA-6210-4717-BF2F-F62A494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La altura es 37.14 % de h. La proyección cae dentro de la base, sin certificar estructura.</a:t>
            </a:r>
          </a:p>
        </p:txBody>
      </p:sp>
    </p:spTree>
    <p:extLst>
      <p:ext uri="{BB962C8B-B14F-4D97-AF65-F5344CB8AC3E}">
        <p14:creationId xmlns:p14="http://schemas.microsoft.com/office/powerpoint/2010/main" val="76941886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0EC41B6C-6985-4574-9616-3357B8C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SÍNTESIS</a:t>
            </a:r>
          </a:p>
        </p:txBody>
      </p:sp>
      <p:sp>
        <p:nvSpPr>
          <p:cNvPr id="2" name="scene-number">
            <a:extLst xmlns:a="http://schemas.openxmlformats.org/drawingml/2006/main">
              <a:ext uri="{FF2B5EF4-FFF2-40B4-BE49-F238E27FC236}">
                <a16:creationId xmlns:a16="http://schemas.microsoft.com/office/drawing/2014/main" id="{5C76CAA3-0CDE-4239-A948-157CC3EF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ESCENA 22 / 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B50B17-8D13-4E41-969D-CA65CB28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20374D"/>
                </a:solidFill>
                <a:latin typeface="Inter"/>
                <a:ea typeface="Inter"/>
                <a:cs typeface="Inter"/>
              </a:rPr>
              <a:t>Cuatro decisiones medibles</a:t>
            </a:r>
          </a:p>
        </p:txBody>
      </p:sp>
      <p:sp>
        <p:nvSpPr>
          <p:cNvPr id="4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F5024EE8-DA7C-459B-815F-2364D0E3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RELACIÓN QUE DEFENDEMOS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A0C667CF-3090-4E81-91AD-618DB52D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C4D6B"/>
                </a:solidFill>
                <a:latin typeface="Cambria Math"/>
                <a:ea typeface="Cambria Math"/>
                <a:cs typeface="Cambria Math"/>
              </a:rPr>
              <a:t>B⁺  ·  ruta  ·  región R  ·  depósito E</a:t>
            </a:r>
          </a:p>
        </p:txBody>
      </p:sp>
      <p:sp>
        <p:nvSpPr>
          <p:cNvPr id="6" name="procedure-label">
            <a:extLst xmlns:a="http://schemas.openxmlformats.org/drawingml/2006/main">
              <a:ext uri="{FF2B5EF4-FFF2-40B4-BE49-F238E27FC236}">
                <a16:creationId xmlns:a16="http://schemas.microsoft.com/office/drawing/2014/main" id="{87199C25-DC5C-412B-A431-FD4FB0AE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CÓMO SE OBTIENE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7CF2015-9DE2-41D4-BCEF-4C6307F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9F9FC6C6-0A9B-454E-A8EC-09DA245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Llegada: 3.788 % de pendiente en B⁺.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AC03E15-FB3C-480D-81E7-5E3064CE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83F2CAF4-21E2-4D14-BB6F-7ED71E25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Ruta: 226.205 m; suelo real de R: 623.365 m².</a:t>
            </a:r>
          </a:p>
        </p:txBody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E095DED-A0F0-4575-8554-5A0A66DF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D30A9274-6605-4268-96EE-98CFB40A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Reserva: 4 222.301 m³; centro a 2.971 m.</a:t>
            </a:r>
          </a:p>
        </p:txBody>
      </p:sp>
      <p:sp>
        <p:nvSpPr>
          <p:cNvPr id="13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90737D0-D41F-4B9D-A431-A91F996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B2C6B"/>
                </a:solidFill>
                <a:latin typeface="JetBrains Mono"/>
                <a:ea typeface="JetBrains Mono"/>
                <a:cs typeface="JetBrains Mono"/>
              </a:rPr>
              <a:t>RESULTADO</a:t>
            </a:r>
          </a:p>
        </p:txBody>
      </p:sp>
      <p:sp>
        <p:nvSpPr>
          <p:cNvPr id="14" name="answer">
            <a:extLst xmlns:a="http://schemas.openxmlformats.org/drawingml/2006/main">
              <a:ext uri="{FF2B5EF4-FFF2-40B4-BE49-F238E27FC236}">
                <a16:creationId xmlns:a16="http://schemas.microsoft.com/office/drawing/2014/main" id="{43C71A91-EFD6-4089-866E-F308CCB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76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defPPr>
            <a:lvl1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1pPr>
            <a:lvl2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2pPr>
            <a:lvl3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3pPr>
            <a:lvl4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4pPr>
            <a:lvl5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5pPr>
            <a:lvl6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6pPr>
            <a:lvl7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7pPr>
            <a:lvl8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8pPr>
            <a:lvl9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4B2C6B"/>
                </a:solidFill>
                <a:latin typeface="Inter"/>
                <a:ea typeface="Inter"/>
                <a:cs typeface="Inter"/>
              </a:defRPr>
            </a:pPr>
            <a:r>
              <a:rPr sz="3375" b="1">
                <a:solidFill>
                  <a:srgbClr val="4B2C6B"/>
                </a:solidFill>
                <a:latin typeface="Inter"/>
                <a:ea typeface="Inter"/>
                <a:cs typeface="Inter"/>
              </a:rPr>
              <a:t>un diseño</a:t>
            </a:r>
          </a:p>
        </p:txBody>
      </p:sp>
      <p:sp>
        <p:nvSpPr>
          <p:cNvPr id="15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D7EDE879-004B-4DD6-9BCA-AAE2187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C4D6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C4D6B"/>
                </a:solidFill>
                <a:latin typeface="Inter"/>
                <a:ea typeface="Inter"/>
                <a:cs typeface="Inter"/>
              </a:rPr>
              <a:t>coherente dentro del modelo</a:t>
            </a:r>
          </a:p>
        </p:txBody>
      </p:sp>
      <p:sp>
        <p:nvSpPr>
          <p:cNvPr id="16" name="meaning-label">
            <a:extLst xmlns:a="http://schemas.openxmlformats.org/drawingml/2006/main">
              <a:ext uri="{FF2B5EF4-FFF2-40B4-BE49-F238E27FC236}">
                <a16:creationId xmlns:a16="http://schemas.microsoft.com/office/drawing/2014/main" id="{D87EACF0-A337-4363-B18F-B53ABCF8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defPPr>
            <a:lvl1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1pPr>
            <a:lvl2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2pPr>
            <a:lvl3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3pPr>
            <a:lvl4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4pPr>
            <a:lvl5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5pPr>
            <a:lvl6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6pPr>
            <a:lvl7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7pPr>
            <a:lvl8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8pPr>
            <a:lvl9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5A82A6"/>
                </a:solidFill>
                <a:latin typeface="JetBrains Mono"/>
                <a:ea typeface="JetBrains Mono"/>
                <a:cs typeface="JetBrains Mono"/>
              </a:rPr>
              <a:t>QUÉ SIGNIFICA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16E316E9-FA40-479D-AF06-724FC679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defPPr>
            <a:lvl1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1pPr>
            <a:lvl2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2pPr>
            <a:lvl3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3pPr>
            <a:lvl4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4pPr>
            <a:lvl5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5pPr>
            <a:lvl6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6pPr>
            <a:lvl7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7pPr>
            <a:lvl8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8pPr>
            <a:lvl9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74D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0374D"/>
                </a:solidFill>
                <a:latin typeface="Inter"/>
                <a:ea typeface="Inter"/>
                <a:cs typeface="Inter"/>
              </a:rPr>
              <a:t>Terreno sintético, cargas y servicios parciales: todavía no es una construcción certificada.</a:t>
            </a:r>
          </a:p>
        </p:txBody>
      </p:sp>
    </p:spTree>
    <p:extLst>
      <p:ext uri="{BB962C8B-B14F-4D97-AF65-F5344CB8AC3E}">
        <p14:creationId xmlns:p14="http://schemas.microsoft.com/office/powerpoint/2010/main" val="9184183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EVA03">
  <a:themeElements>
    <a:clrScheme name="EVA03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VA03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Equipo EVA03</ap:Application>
  <ap:PresentationFormat>On-screen Show (16:9)</ap:PresentationFormat>
  <ap:Slides>22</ap:Slides>
  <ap:Notes>22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Equipo EVA03</dc:creator>
  <lastModifiedBy>Equipo EVA03</lastModifiedBy>
  <dc:title>Defensa matematica EVA03 - 22 escenas</dc:title>
  <dcterms:created xsi:type="dcterms:W3CDTF">2026-10-17T17:32:01.4520000Z</dcterms:created>
  <dcterms:modified xsi:type="dcterms:W3CDTF">2026-10-17T17:32:01.4520000Z</dcterms:modified>
</coreProperties>
</file>